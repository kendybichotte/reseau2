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A619AC-C5E0-4AFA-BF92-4C883C67E68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E1EC466-3321-481E-884A-43BB336846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B71CE7E-4FCD-40C9-946D-399165A67FD3}"/>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5" name="Espace réservé du pied de page 4">
            <a:extLst>
              <a:ext uri="{FF2B5EF4-FFF2-40B4-BE49-F238E27FC236}">
                <a16:creationId xmlns:a16="http://schemas.microsoft.com/office/drawing/2014/main" id="{EC75FA46-B18A-4874-828F-64C32156C87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B1C544-C230-4596-83C1-BF4627FAB9D7}"/>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3197608421"/>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442EF6-1153-43CB-855F-11C137F0D76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39ED8A5-A955-423C-8592-EE8F6B4ED15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30800EE-9599-49B1-BFD3-1957DC74AFA3}"/>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5" name="Espace réservé du pied de page 4">
            <a:extLst>
              <a:ext uri="{FF2B5EF4-FFF2-40B4-BE49-F238E27FC236}">
                <a16:creationId xmlns:a16="http://schemas.microsoft.com/office/drawing/2014/main" id="{A201C463-23C5-400D-B443-8021569E9CD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31B2A7B-86A5-4AAB-88AB-53E6C8FED0C9}"/>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2936559166"/>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6ACD5B-115C-439A-9499-0CA483BF6CE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8FCFF86-9788-4BB4-B80D-A05ABCB8AC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E2B7970-07C9-484D-9171-7C01B9BCF2D7}"/>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5" name="Espace réservé du pied de page 4">
            <a:extLst>
              <a:ext uri="{FF2B5EF4-FFF2-40B4-BE49-F238E27FC236}">
                <a16:creationId xmlns:a16="http://schemas.microsoft.com/office/drawing/2014/main" id="{CE3160A8-0BDD-4FFF-9E4C-844D7774FFF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526551C-FB41-47A1-8F29-80BA9B5FFAFD}"/>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3454544337"/>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F63C09-C39E-4ABE-9824-BCE8F2A49E3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EAABC76-02D8-4EEB-9863-84F6A6080C4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D9322C5-F0F1-418A-953B-356AEEC916E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EAFC94E-18DC-42B8-9AB8-D19C2E67A0D8}"/>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6" name="Espace réservé du pied de page 5">
            <a:extLst>
              <a:ext uri="{FF2B5EF4-FFF2-40B4-BE49-F238E27FC236}">
                <a16:creationId xmlns:a16="http://schemas.microsoft.com/office/drawing/2014/main" id="{C8899FB7-D00A-40BB-B280-4B9F7446AE6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2A2596B-CEBF-40E7-8067-56B24672653B}"/>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13269283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857ED9-1590-492A-BBD9-9BC5A98BF91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08933F0-6F77-4622-AF29-99084C2609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7F0FFBB-1A1A-4456-B657-BF93E85921E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9B44970-E3B9-4FC6-8A19-537138126B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AEA7CFF-FEE8-4B55-A6C5-F1CB2672B79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1E58CE2-60B3-4E13-8E26-7B649F1B75F4}"/>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8" name="Espace réservé du pied de page 7">
            <a:extLst>
              <a:ext uri="{FF2B5EF4-FFF2-40B4-BE49-F238E27FC236}">
                <a16:creationId xmlns:a16="http://schemas.microsoft.com/office/drawing/2014/main" id="{6AF0F690-1C11-4A8D-9DB5-B2C292847CA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4AF451E-C36F-4200-A767-C87AC742BB16}"/>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29754967"/>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D476D8-57E3-4254-8DD2-787DE3AB56C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ACF6E65-8723-492E-B656-B4698AB00FD5}"/>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4" name="Espace réservé du pied de page 3">
            <a:extLst>
              <a:ext uri="{FF2B5EF4-FFF2-40B4-BE49-F238E27FC236}">
                <a16:creationId xmlns:a16="http://schemas.microsoft.com/office/drawing/2014/main" id="{F0821ED3-E040-4EE8-BCBB-03C7A14B9A8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59740B8-8E5D-4DF1-9DCB-C1E1BC4E3F90}"/>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1155707562"/>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1288FDC-63F5-46A1-90CE-48265B99A8A4}"/>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3" name="Espace réservé du pied de page 2">
            <a:extLst>
              <a:ext uri="{FF2B5EF4-FFF2-40B4-BE49-F238E27FC236}">
                <a16:creationId xmlns:a16="http://schemas.microsoft.com/office/drawing/2014/main" id="{0C249226-36DA-407B-8CF0-904FC9C97C4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E4A876F-A8C8-4A73-B5FE-D929937790B7}"/>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4068809460"/>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3E6267-319F-4CF4-9EC2-9C6AB723F4F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BB003B8-4EED-4C38-AACF-613B68ABAA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8619672-EE6E-4EB9-AB3A-51E477D81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005DDB0-D83C-456B-8C60-0B748E7E6962}"/>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6" name="Espace réservé du pied de page 5">
            <a:extLst>
              <a:ext uri="{FF2B5EF4-FFF2-40B4-BE49-F238E27FC236}">
                <a16:creationId xmlns:a16="http://schemas.microsoft.com/office/drawing/2014/main" id="{3F6E7A98-E62B-4FC5-AF60-7534289F0BF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0749A62-E162-4A99-85E4-D2151B919010}"/>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638292098"/>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41116A-993D-45A0-8632-C623815C5BC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A206BC2-7BF2-4EFB-8409-066A77B7C4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CCAEAC2-FCA9-4D95-80D0-5D228FE36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A36A13C-E429-48AB-B29D-45223C6159B3}"/>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6" name="Espace réservé du pied de page 5">
            <a:extLst>
              <a:ext uri="{FF2B5EF4-FFF2-40B4-BE49-F238E27FC236}">
                <a16:creationId xmlns:a16="http://schemas.microsoft.com/office/drawing/2014/main" id="{A85E2A76-F8B3-4AD8-8BB7-5524903D07A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D533C04-D729-43FF-8B8C-DD89D3CDA76B}"/>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1345169649"/>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8ABD4A-B543-44AA-AB9D-8A8433D8D27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793A05C-5A7E-4559-8763-A42D3DBA70B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E579976-8741-41FE-B294-4DFB1F90D943}"/>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5" name="Espace réservé du pied de page 4">
            <a:extLst>
              <a:ext uri="{FF2B5EF4-FFF2-40B4-BE49-F238E27FC236}">
                <a16:creationId xmlns:a16="http://schemas.microsoft.com/office/drawing/2014/main" id="{0784496A-81AB-454F-9FE2-456DF2E8D9A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E1B9D32-85F8-4149-9E4B-F6A5BDE0B8EF}"/>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1739554038"/>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3701DF2-39D5-4D70-A4DE-4321E01CB2F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B434F79-B2B2-4404-9689-E45BD7BF0FC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A405A78-C7D2-465A-8940-F1DE586F86B6}"/>
              </a:ext>
            </a:extLst>
          </p:cNvPr>
          <p:cNvSpPr>
            <a:spLocks noGrp="1"/>
          </p:cNvSpPr>
          <p:nvPr>
            <p:ph type="dt" sz="half" idx="10"/>
          </p:nvPr>
        </p:nvSpPr>
        <p:spPr/>
        <p:txBody>
          <a:bodyPr/>
          <a:lstStyle/>
          <a:p>
            <a:fld id="{D4E1E90E-9E92-4722-8781-2C4AEC7AD483}" type="datetimeFigureOut">
              <a:rPr lang="fr-FR" smtClean="0"/>
              <a:t>22/05/2026</a:t>
            </a:fld>
            <a:endParaRPr lang="fr-FR"/>
          </a:p>
        </p:txBody>
      </p:sp>
      <p:sp>
        <p:nvSpPr>
          <p:cNvPr id="5" name="Espace réservé du pied de page 4">
            <a:extLst>
              <a:ext uri="{FF2B5EF4-FFF2-40B4-BE49-F238E27FC236}">
                <a16:creationId xmlns:a16="http://schemas.microsoft.com/office/drawing/2014/main" id="{8B2F42FB-81B2-4591-B1DA-E354EB9D86B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99D8A04-0844-41D5-9F75-9945536CE0E2}"/>
              </a:ext>
            </a:extLst>
          </p:cNvPr>
          <p:cNvSpPr>
            <a:spLocks noGrp="1"/>
          </p:cNvSpPr>
          <p:nvPr>
            <p:ph type="sldNum" sz="quarter" idx="12"/>
          </p:nvPr>
        </p:nvSpPr>
        <p:spPr/>
        <p:txBody>
          <a:bodyPr/>
          <a:lstStyle/>
          <a:p>
            <a:fld id="{F240F495-57D0-46FD-9010-01F0C0B57E0A}" type="slidenum">
              <a:rPr lang="fr-FR" smtClean="0"/>
              <a:t>‹N°›</a:t>
            </a:fld>
            <a:endParaRPr lang="fr-FR"/>
          </a:p>
        </p:txBody>
      </p:sp>
    </p:spTree>
    <p:extLst>
      <p:ext uri="{BB962C8B-B14F-4D97-AF65-F5344CB8AC3E}">
        <p14:creationId xmlns:p14="http://schemas.microsoft.com/office/powerpoint/2010/main" val="3377404903"/>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ebgburnet.com/archives/1-sti2d-sin/le-reseau/"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0000"/>
            <a:lum/>
            <a:extLst>
              <a:ext uri="{837473B0-CC2E-450A-ABE3-18F120FF3D39}">
                <a1611:picAttrSrcUrl xmlns:a1611="http://schemas.microsoft.com/office/drawing/2016/11/main" r:id="rId14"/>
              </a:ext>
            </a:extLst>
          </a:blip>
          <a:srcRect/>
          <a:stretch>
            <a:fillRect t="-9000" b="-9000"/>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939E3D4-630A-4DDA-94EE-D3EBCE8A4C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A6DE919-5D3E-4E0C-8D3A-841539D7DB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73E2EFA-BF30-4CE5-94B4-661CADAE58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E1E90E-9E92-4722-8781-2C4AEC7AD483}" type="datetimeFigureOut">
              <a:rPr lang="fr-FR" smtClean="0"/>
              <a:t>22/05/2026</a:t>
            </a:fld>
            <a:endParaRPr lang="fr-FR"/>
          </a:p>
        </p:txBody>
      </p:sp>
      <p:sp>
        <p:nvSpPr>
          <p:cNvPr id="5" name="Espace réservé du pied de page 4">
            <a:extLst>
              <a:ext uri="{FF2B5EF4-FFF2-40B4-BE49-F238E27FC236}">
                <a16:creationId xmlns:a16="http://schemas.microsoft.com/office/drawing/2014/main" id="{8E0C3085-2853-4C8A-9E3A-11B2FB9EB3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2CC8292-8131-4957-82A1-591FBE75B7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0F495-57D0-46FD-9010-01F0C0B57E0A}" type="slidenum">
              <a:rPr lang="fr-FR" smtClean="0"/>
              <a:t>‹N°›</a:t>
            </a:fld>
            <a:endParaRPr lang="fr-FR"/>
          </a:p>
        </p:txBody>
      </p:sp>
    </p:spTree>
    <p:extLst>
      <p:ext uri="{BB962C8B-B14F-4D97-AF65-F5344CB8AC3E}">
        <p14:creationId xmlns:p14="http://schemas.microsoft.com/office/powerpoint/2010/main" val="8125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pixabay.com/en/communication-connection-global-1297544/"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www.lemagit.fr/actualites/365531940/Sysdig-la-startup-qui-renifle-les-problemes-de-Kubernetes"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FB5AF595-CE7D-46BE-8C44-A423E23FF28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53000" y="614363"/>
            <a:ext cx="2286000" cy="962025"/>
          </a:xfrm>
          <a:prstGeom prst="rect">
            <a:avLst/>
          </a:prstGeom>
          <a:noFill/>
          <a:ln>
            <a:noFill/>
          </a:ln>
        </p:spPr>
      </p:pic>
      <p:pic>
        <p:nvPicPr>
          <p:cNvPr id="5" name="Image 0">
            <a:extLst>
              <a:ext uri="{FF2B5EF4-FFF2-40B4-BE49-F238E27FC236}">
                <a16:creationId xmlns:a16="http://schemas.microsoft.com/office/drawing/2014/main" id="{CC5AE8BD-7ADA-420C-BA03-5B034149B08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5115339" y="2653405"/>
            <a:ext cx="1961322" cy="1377011"/>
          </a:xfrm>
          <a:prstGeom prst="rect">
            <a:avLst/>
          </a:prstGeom>
          <a:noFill/>
        </p:spPr>
      </p:pic>
      <p:sp>
        <p:nvSpPr>
          <p:cNvPr id="6" name="Text 2">
            <a:extLst>
              <a:ext uri="{FF2B5EF4-FFF2-40B4-BE49-F238E27FC236}">
                <a16:creationId xmlns:a16="http://schemas.microsoft.com/office/drawing/2014/main" id="{18F0BFFE-F518-4E42-B471-E54F24290FD0}"/>
              </a:ext>
            </a:extLst>
          </p:cNvPr>
          <p:cNvSpPr/>
          <p:nvPr/>
        </p:nvSpPr>
        <p:spPr>
          <a:xfrm>
            <a:off x="3455505" y="2365670"/>
            <a:ext cx="5280990" cy="320040"/>
          </a:xfrm>
          <a:prstGeom prst="rect">
            <a:avLst/>
          </a:prstGeom>
          <a:noFill/>
          <a:ln/>
        </p:spPr>
        <p:txBody>
          <a:bodyPr wrap="square" rtlCol="0" anchor="ctr"/>
          <a:lstStyle/>
          <a:p>
            <a:pPr marL="0" indent="0" algn="ctr">
              <a:buNone/>
            </a:pPr>
            <a:r>
              <a:rPr lang="en-US" sz="2000" b="1" kern="0" spc="100" dirty="0">
                <a:latin typeface="Calibri" pitchFamily="34" charset="0"/>
                <a:ea typeface="Calibri" pitchFamily="34" charset="-122"/>
                <a:cs typeface="Calibri" pitchFamily="34" charset="-120"/>
              </a:rPr>
              <a:t>INSTITUT UNIVERSITAIRE DES SCIENCES</a:t>
            </a:r>
            <a:endParaRPr lang="en-US" sz="2000" dirty="0"/>
          </a:p>
        </p:txBody>
      </p:sp>
      <p:sp>
        <p:nvSpPr>
          <p:cNvPr id="7" name="Text 3">
            <a:extLst>
              <a:ext uri="{FF2B5EF4-FFF2-40B4-BE49-F238E27FC236}">
                <a16:creationId xmlns:a16="http://schemas.microsoft.com/office/drawing/2014/main" id="{0D6CB1B3-DEB2-48C7-BD05-ED90C72F8B2D}"/>
              </a:ext>
            </a:extLst>
          </p:cNvPr>
          <p:cNvSpPr/>
          <p:nvPr/>
        </p:nvSpPr>
        <p:spPr>
          <a:xfrm>
            <a:off x="2878602" y="1563665"/>
            <a:ext cx="6434797" cy="502879"/>
          </a:xfrm>
          <a:prstGeom prst="rect">
            <a:avLst/>
          </a:prstGeom>
          <a:noFill/>
          <a:ln/>
        </p:spPr>
        <p:txBody>
          <a:bodyPr wrap="square" rtlCol="0" anchor="ctr"/>
          <a:lstStyle/>
          <a:p>
            <a:pPr marL="0" indent="0" algn="ctr">
              <a:buNone/>
            </a:pPr>
            <a:r>
              <a:rPr lang="en-US" sz="2800" i="1" dirty="0">
                <a:latin typeface="Calibri" pitchFamily="34" charset="0"/>
                <a:ea typeface="Calibri" pitchFamily="34" charset="-122"/>
                <a:cs typeface="Calibri" pitchFamily="34" charset="-120"/>
              </a:rPr>
              <a:t>Faculté des Sciences et Technologie</a:t>
            </a:r>
            <a:endParaRPr lang="en-US" sz="2800" dirty="0"/>
          </a:p>
        </p:txBody>
      </p:sp>
      <p:sp>
        <p:nvSpPr>
          <p:cNvPr id="8" name="Shape 4">
            <a:extLst>
              <a:ext uri="{FF2B5EF4-FFF2-40B4-BE49-F238E27FC236}">
                <a16:creationId xmlns:a16="http://schemas.microsoft.com/office/drawing/2014/main" id="{4ECB047D-0EE7-47C2-8B33-349F2CA906F6}"/>
              </a:ext>
            </a:extLst>
          </p:cNvPr>
          <p:cNvSpPr/>
          <p:nvPr/>
        </p:nvSpPr>
        <p:spPr>
          <a:xfrm>
            <a:off x="4768133" y="2203704"/>
            <a:ext cx="2743200" cy="36576"/>
          </a:xfrm>
          <a:prstGeom prst="rect">
            <a:avLst/>
          </a:prstGeom>
          <a:solidFill>
            <a:srgbClr val="00B4D8"/>
          </a:solidFill>
          <a:ln w="12700">
            <a:solidFill>
              <a:srgbClr val="00B4D8"/>
            </a:solidFill>
            <a:prstDash val="solid"/>
          </a:ln>
        </p:spPr>
      </p:sp>
      <p:sp>
        <p:nvSpPr>
          <p:cNvPr id="9" name="Text 5">
            <a:extLst>
              <a:ext uri="{FF2B5EF4-FFF2-40B4-BE49-F238E27FC236}">
                <a16:creationId xmlns:a16="http://schemas.microsoft.com/office/drawing/2014/main" id="{C24C6D27-6627-469F-B92B-1B16D07F28E0}"/>
              </a:ext>
            </a:extLst>
          </p:cNvPr>
          <p:cNvSpPr/>
          <p:nvPr/>
        </p:nvSpPr>
        <p:spPr>
          <a:xfrm>
            <a:off x="2758440" y="4810978"/>
            <a:ext cx="6675121" cy="667379"/>
          </a:xfrm>
          <a:prstGeom prst="rect">
            <a:avLst/>
          </a:prstGeom>
          <a:solidFill>
            <a:srgbClr val="0070C0"/>
          </a:solid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Kendy BICHOTTE</a:t>
            </a:r>
            <a:endParaRPr lang="en-US" sz="2000" dirty="0"/>
          </a:p>
        </p:txBody>
      </p:sp>
      <p:sp>
        <p:nvSpPr>
          <p:cNvPr id="10" name="Text 6">
            <a:extLst>
              <a:ext uri="{FF2B5EF4-FFF2-40B4-BE49-F238E27FC236}">
                <a16:creationId xmlns:a16="http://schemas.microsoft.com/office/drawing/2014/main" id="{844E5C48-B754-413C-A3FF-1E485EF7887F}"/>
              </a:ext>
            </a:extLst>
          </p:cNvPr>
          <p:cNvSpPr/>
          <p:nvPr/>
        </p:nvSpPr>
        <p:spPr>
          <a:xfrm>
            <a:off x="4541520" y="5634824"/>
            <a:ext cx="3108960" cy="274320"/>
          </a:xfrm>
          <a:prstGeom prst="rect">
            <a:avLst/>
          </a:prstGeom>
          <a:noFill/>
          <a:ln/>
        </p:spPr>
        <p:txBody>
          <a:bodyPr wrap="square" rtlCol="0" anchor="ctr"/>
          <a:lstStyle/>
          <a:p>
            <a:pPr marL="0" indent="0" algn="ctr">
              <a:buNone/>
            </a:pPr>
            <a:r>
              <a:rPr lang="en-US" sz="2000" dirty="0">
                <a:solidFill>
                  <a:srgbClr val="90E0EF"/>
                </a:solidFill>
                <a:latin typeface="Calibri" pitchFamily="34" charset="0"/>
                <a:ea typeface="Calibri" pitchFamily="34" charset="-122"/>
                <a:cs typeface="Calibri" pitchFamily="34" charset="-120"/>
              </a:rPr>
              <a:t>Sous la direction de M. Ismaël SAINT-AMOUR</a:t>
            </a:r>
            <a:endParaRPr lang="en-US" sz="2000" dirty="0"/>
          </a:p>
        </p:txBody>
      </p:sp>
      <p:sp>
        <p:nvSpPr>
          <p:cNvPr id="11" name="Text 7">
            <a:extLst>
              <a:ext uri="{FF2B5EF4-FFF2-40B4-BE49-F238E27FC236}">
                <a16:creationId xmlns:a16="http://schemas.microsoft.com/office/drawing/2014/main" id="{68BB95B9-7D96-4E85-BED3-B9D16B0E4280}"/>
              </a:ext>
            </a:extLst>
          </p:cNvPr>
          <p:cNvSpPr/>
          <p:nvPr/>
        </p:nvSpPr>
        <p:spPr>
          <a:xfrm>
            <a:off x="9431573" y="6292132"/>
            <a:ext cx="3108960" cy="320040"/>
          </a:xfrm>
          <a:prstGeom prst="rect">
            <a:avLst/>
          </a:prstGeom>
          <a:noFill/>
          <a:ln/>
        </p:spPr>
        <p:txBody>
          <a:bodyPr wrap="square" rtlCol="0" anchor="ctr"/>
          <a:lstStyle/>
          <a:p>
            <a:pPr marL="0" indent="0" algn="ctr">
              <a:buNone/>
            </a:pPr>
            <a:r>
              <a:rPr lang="en-US" sz="2000" dirty="0">
                <a:solidFill>
                  <a:srgbClr val="90E0EF"/>
                </a:solidFill>
                <a:latin typeface="Calibri" pitchFamily="34" charset="0"/>
                <a:ea typeface="Calibri" pitchFamily="34" charset="-122"/>
                <a:cs typeface="Calibri" pitchFamily="34" charset="-120"/>
              </a:rPr>
              <a:t>Jacmel 2026</a:t>
            </a:r>
            <a:endParaRPr lang="en-US" sz="2000" dirty="0"/>
          </a:p>
        </p:txBody>
      </p:sp>
      <p:sp>
        <p:nvSpPr>
          <p:cNvPr id="12" name="Text 2">
            <a:extLst>
              <a:ext uri="{FF2B5EF4-FFF2-40B4-BE49-F238E27FC236}">
                <a16:creationId xmlns:a16="http://schemas.microsoft.com/office/drawing/2014/main" id="{F6BE618D-84A1-40DC-B3B6-D3B0C5CFBF43}"/>
              </a:ext>
            </a:extLst>
          </p:cNvPr>
          <p:cNvSpPr/>
          <p:nvPr/>
        </p:nvSpPr>
        <p:spPr>
          <a:xfrm>
            <a:off x="1129831" y="4172291"/>
            <a:ext cx="9932339" cy="320040"/>
          </a:xfrm>
          <a:prstGeom prst="rect">
            <a:avLst/>
          </a:prstGeom>
          <a:noFill/>
          <a:ln/>
        </p:spPr>
        <p:txBody>
          <a:bodyPr wrap="square" rtlCol="0" anchor="ctr"/>
          <a:lstStyle/>
          <a:p>
            <a:pPr marL="0" indent="0" algn="ctr">
              <a:buNone/>
            </a:pPr>
            <a:r>
              <a:rPr lang="fr-FR" sz="2800" i="1" dirty="0">
                <a:solidFill>
                  <a:srgbClr val="00B0F0"/>
                </a:solidFill>
                <a:effectLst/>
                <a:latin typeface="Google Sans"/>
              </a:rPr>
              <a:t>« Analyse du trafic réseau avec Wireshark dans un réseau simulé »</a:t>
            </a:r>
            <a:endParaRPr lang="en-US" sz="2800" i="1" dirty="0">
              <a:solidFill>
                <a:srgbClr val="00B0F0"/>
              </a:solidFill>
            </a:endParaRPr>
          </a:p>
        </p:txBody>
      </p:sp>
    </p:spTree>
    <p:extLst>
      <p:ext uri="{BB962C8B-B14F-4D97-AF65-F5344CB8AC3E}">
        <p14:creationId xmlns:p14="http://schemas.microsoft.com/office/powerpoint/2010/main" val="422389343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4" name="ZoneTexte 3">
            <a:extLst>
              <a:ext uri="{FF2B5EF4-FFF2-40B4-BE49-F238E27FC236}">
                <a16:creationId xmlns:a16="http://schemas.microsoft.com/office/drawing/2014/main" id="{72ACD630-65B8-4625-BCEB-CA18B595E6B3}"/>
              </a:ext>
            </a:extLst>
          </p:cNvPr>
          <p:cNvSpPr txBox="1"/>
          <p:nvPr/>
        </p:nvSpPr>
        <p:spPr>
          <a:xfrm>
            <a:off x="848139" y="1114814"/>
            <a:ext cx="10323443" cy="1815882"/>
          </a:xfrm>
          <a:prstGeom prst="rect">
            <a:avLst/>
          </a:prstGeom>
          <a:noFill/>
        </p:spPr>
        <p:txBody>
          <a:bodyPr wrap="square" rtlCol="0">
            <a:spAutoFit/>
          </a:bodyPr>
          <a:lstStyle/>
          <a:p>
            <a:pPr algn="just"/>
            <a:r>
              <a:rPr lang="fr-FR" sz="2800" dirty="0">
                <a:effectLst/>
                <a:latin typeface="Times New Roman" panose="02020603050405020304" pitchFamily="18" charset="0"/>
                <a:ea typeface="Times New Roman" panose="02020603050405020304" pitchFamily="18" charset="0"/>
              </a:rPr>
              <a:t>Les réseaux informatiques jouent un rôle crucial dans un monde moderne où tous les appareils communiquent entre eux pour faciliter l’accomplissement des tâches technologiques de manière fluide et efficace.</a:t>
            </a:r>
            <a:endParaRPr lang="fr-FR" sz="4400"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A293A45E-F212-405A-828C-0DE231E7A930}"/>
              </a:ext>
            </a:extLst>
          </p:cNvPr>
          <p:cNvSpPr txBox="1"/>
          <p:nvPr/>
        </p:nvSpPr>
        <p:spPr>
          <a:xfrm>
            <a:off x="848139" y="3113107"/>
            <a:ext cx="10323443" cy="1815882"/>
          </a:xfrm>
          <a:prstGeom prst="rect">
            <a:avLst/>
          </a:prstGeom>
          <a:noFill/>
        </p:spPr>
        <p:txBody>
          <a:bodyPr wrap="square" rtlCol="0">
            <a:spAutoFit/>
          </a:bodyPr>
          <a:lstStyle/>
          <a:p>
            <a:pPr algn="just"/>
            <a:r>
              <a:rPr lang="fr-FR" sz="2800" dirty="0">
                <a:effectLst/>
                <a:latin typeface="Times New Roman" panose="02020603050405020304" pitchFamily="18" charset="0"/>
                <a:ea typeface="Times New Roman" panose="02020603050405020304" pitchFamily="18" charset="0"/>
              </a:rPr>
              <a:t>En matière de sécurité, les outils qui nous offrent la meilleure visibilité sont souvent les plus puissants et les plus utiles. </a:t>
            </a:r>
            <a:r>
              <a:rPr lang="fr-FR" sz="2800" b="1" u="none" strike="noStrike" dirty="0">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Wireshark</a:t>
            </a:r>
            <a:r>
              <a:rPr lang="fr-FR" sz="2800" dirty="0">
                <a:effectLst/>
                <a:latin typeface="Times New Roman" panose="02020603050405020304" pitchFamily="18" charset="0"/>
                <a:ea typeface="Times New Roman" panose="02020603050405020304" pitchFamily="18" charset="0"/>
              </a:rPr>
              <a:t> est l'un des principaux outils permettant d'obtenir une visibilité au niveau du réseau.</a:t>
            </a:r>
            <a:endParaRPr lang="fr-FR" sz="44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DEB16FB-07E1-41A7-88FE-EFF0A569057C}"/>
              </a:ext>
            </a:extLst>
          </p:cNvPr>
          <p:cNvSpPr txBox="1"/>
          <p:nvPr/>
        </p:nvSpPr>
        <p:spPr>
          <a:xfrm>
            <a:off x="848139" y="4928989"/>
            <a:ext cx="10323443" cy="1384995"/>
          </a:xfrm>
          <a:prstGeom prst="rect">
            <a:avLst/>
          </a:prstGeom>
          <a:noFill/>
        </p:spPr>
        <p:txBody>
          <a:bodyPr wrap="square" rtlCol="0">
            <a:spAutoFit/>
          </a:bodyPr>
          <a:lstStyle/>
          <a:p>
            <a:pPr algn="just"/>
            <a:r>
              <a:rPr lang="fr-FR" sz="2800" dirty="0">
                <a:effectLst/>
                <a:latin typeface="Times New Roman" panose="02020603050405020304" pitchFamily="18" charset="0"/>
                <a:ea typeface="Times New Roman" panose="02020603050405020304" pitchFamily="18" charset="0"/>
              </a:rPr>
              <a:t>Ce projet consiste à générer du trafic dans un environnement simulé sous Cisco Packet Tracer pour ensuite l’examiner en détail avec Wireshark. </a:t>
            </a:r>
            <a:endParaRPr lang="fr-FR"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00726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Objectifs du projet</a:t>
            </a:r>
          </a:p>
        </p:txBody>
      </p:sp>
      <p:sp>
        <p:nvSpPr>
          <p:cNvPr id="4" name="ZoneTexte 3">
            <a:extLst>
              <a:ext uri="{FF2B5EF4-FFF2-40B4-BE49-F238E27FC236}">
                <a16:creationId xmlns:a16="http://schemas.microsoft.com/office/drawing/2014/main" id="{72ACD630-65B8-4625-BCEB-CA18B595E6B3}"/>
              </a:ext>
            </a:extLst>
          </p:cNvPr>
          <p:cNvSpPr txBox="1"/>
          <p:nvPr/>
        </p:nvSpPr>
        <p:spPr>
          <a:xfrm>
            <a:off x="848139" y="1114814"/>
            <a:ext cx="10323443" cy="815416"/>
          </a:xfrm>
          <a:prstGeom prst="rect">
            <a:avLst/>
          </a:prstGeom>
          <a:noFill/>
        </p:spPr>
        <p:txBody>
          <a:bodyPr wrap="square" rtlCol="0">
            <a:spAutoFit/>
          </a:bodyPr>
          <a:lstStyle/>
          <a:p>
            <a:pPr marL="0" marR="0" algn="just">
              <a:lnSpc>
                <a:spcPct val="115000"/>
              </a:lnSpc>
              <a:spcBef>
                <a:spcPts val="0"/>
              </a:spcBef>
              <a:spcAft>
                <a:spcPts val="800"/>
              </a:spcAft>
            </a:pPr>
            <a:r>
              <a:rPr lang="fr-F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Objectif général </a:t>
            </a:r>
            <a:r>
              <a:rPr lang="fr-FR" sz="1800" b="1" i="1" kern="100" dirty="0">
                <a:effectLst/>
                <a:latin typeface="Times New Roman" panose="02020603050405020304" pitchFamily="18" charset="0"/>
                <a:ea typeface="Times New Roman" panose="02020603050405020304" pitchFamily="18" charset="0"/>
                <a:cs typeface="Times New Roman" panose="02020603050405020304" pitchFamily="18" charset="0"/>
              </a:rPr>
              <a:t>: « Analyser le trafic réseau généré dans un réseau simulé afin de comprendre le fonctionnement des protocoles et d’identifier les comportements suspects. »</a:t>
            </a:r>
            <a:r>
              <a:rPr lang="fr-FR"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kern="100" dirty="0">
              <a:effectLst/>
              <a:latin typeface="Aptos"/>
              <a:ea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A293A45E-F212-405A-828C-0DE231E7A930}"/>
              </a:ext>
            </a:extLst>
          </p:cNvPr>
          <p:cNvSpPr txBox="1"/>
          <p:nvPr/>
        </p:nvSpPr>
        <p:spPr>
          <a:xfrm>
            <a:off x="1457738" y="2649282"/>
            <a:ext cx="9144001" cy="3730317"/>
          </a:xfrm>
          <a:prstGeom prst="rect">
            <a:avLst/>
          </a:prstGeom>
          <a:noFill/>
        </p:spPr>
        <p:txBody>
          <a:bodyPr wrap="square" rtlCol="0">
            <a:spAutoFit/>
          </a:bodyPr>
          <a:lstStyle/>
          <a:p>
            <a:pPr marL="342900" marR="0" lvl="0" indent="-342900">
              <a:lnSpc>
                <a:spcPct val="150000"/>
              </a:lnSpc>
              <a:spcBef>
                <a:spcPts val="0"/>
              </a:spcBef>
              <a:spcAft>
                <a:spcPts val="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Concevoir une topologie de réseau simple et fonctionnelle ;</a:t>
            </a:r>
          </a:p>
          <a:p>
            <a:pPr marL="342900" marR="0" lvl="0" indent="-342900">
              <a:lnSpc>
                <a:spcPct val="150000"/>
              </a:lnSpc>
              <a:spcBef>
                <a:spcPts val="0"/>
              </a:spcBef>
              <a:spcAft>
                <a:spcPts val="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Configurer les équipements réseau (Routeur, Switch, Serveur, PC) ;</a:t>
            </a:r>
          </a:p>
          <a:p>
            <a:pPr marL="342900" marR="0" lvl="0" indent="-342900">
              <a:lnSpc>
                <a:spcPct val="150000"/>
              </a:lnSpc>
              <a:spcBef>
                <a:spcPts val="0"/>
              </a:spcBef>
              <a:spcAft>
                <a:spcPts val="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Générer différents types de trafic (http, DNS, FTP, ICMP) ;</a:t>
            </a:r>
          </a:p>
          <a:p>
            <a:pPr marL="342900" marR="0" lvl="0" indent="-342900">
              <a:lnSpc>
                <a:spcPct val="150000"/>
              </a:lnSpc>
              <a:spcBef>
                <a:spcPts val="0"/>
              </a:spcBef>
              <a:spcAft>
                <a:spcPts val="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Capturer les paquets avec Wireshark ;</a:t>
            </a:r>
          </a:p>
          <a:p>
            <a:pPr marL="342900" marR="0" lvl="0" indent="-342900">
              <a:lnSpc>
                <a:spcPct val="150000"/>
              </a:lnSpc>
              <a:spcBef>
                <a:spcPts val="0"/>
              </a:spcBef>
              <a:spcAft>
                <a:spcPts val="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Etudier les protocoles en profondeur ;</a:t>
            </a:r>
          </a:p>
          <a:p>
            <a:pPr marL="342900" marR="0" lvl="0" indent="-342900">
              <a:lnSpc>
                <a:spcPct val="150000"/>
              </a:lnSpc>
              <a:spcBef>
                <a:spcPts val="0"/>
              </a:spcBef>
              <a:spcAft>
                <a:spcPts val="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Identifier les étapes clés du TCP ;</a:t>
            </a:r>
          </a:p>
          <a:p>
            <a:pPr marL="342900" marR="0" lvl="0" indent="-342900">
              <a:lnSpc>
                <a:spcPct val="150000"/>
              </a:lnSpc>
              <a:spcBef>
                <a:spcPts val="0"/>
              </a:spcBef>
              <a:spcAft>
                <a:spcPts val="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Analyser les requêtes DNS ;</a:t>
            </a:r>
          </a:p>
          <a:p>
            <a:pPr marL="342900" marR="0" lvl="0" indent="-342900">
              <a:lnSpc>
                <a:spcPct val="150000"/>
              </a:lnSpc>
              <a:spcBef>
                <a:spcPts val="0"/>
              </a:spcBef>
              <a:spcAft>
                <a:spcPts val="800"/>
              </a:spcAft>
              <a:buFont typeface="Wingdings" panose="05000000000000000000" pitchFamily="2" charset="2"/>
              <a:buChar char=""/>
            </a:pPr>
            <a:r>
              <a:rPr lang="fr-FR" sz="2000" kern="100" dirty="0">
                <a:effectLst/>
                <a:latin typeface="Times New Roman" panose="02020603050405020304" pitchFamily="18" charset="0"/>
                <a:ea typeface="Times New Roman" panose="02020603050405020304" pitchFamily="18" charset="0"/>
                <a:cs typeface="Times New Roman" panose="02020603050405020304" pitchFamily="18" charset="0"/>
              </a:rPr>
              <a:t>Détecter les anomalies (scans, ports suspects).</a:t>
            </a:r>
          </a:p>
        </p:txBody>
      </p:sp>
      <p:sp>
        <p:nvSpPr>
          <p:cNvPr id="7" name="ZoneTexte 6">
            <a:extLst>
              <a:ext uri="{FF2B5EF4-FFF2-40B4-BE49-F238E27FC236}">
                <a16:creationId xmlns:a16="http://schemas.microsoft.com/office/drawing/2014/main" id="{8585051F-2F3B-4FD6-A6D7-78CB49C77385}"/>
              </a:ext>
            </a:extLst>
          </p:cNvPr>
          <p:cNvSpPr txBox="1"/>
          <p:nvPr/>
        </p:nvSpPr>
        <p:spPr>
          <a:xfrm>
            <a:off x="848138" y="2231411"/>
            <a:ext cx="3180524" cy="483017"/>
          </a:xfrm>
          <a:prstGeom prst="rect">
            <a:avLst/>
          </a:prstGeom>
          <a:noFill/>
        </p:spPr>
        <p:txBody>
          <a:bodyPr wrap="square" rtlCol="0">
            <a:spAutoFit/>
          </a:bodyPr>
          <a:lstStyle/>
          <a:p>
            <a:pPr marR="0" lvl="0">
              <a:lnSpc>
                <a:spcPct val="115000"/>
              </a:lnSpc>
              <a:spcBef>
                <a:spcPts val="0"/>
              </a:spcBef>
              <a:spcAft>
                <a:spcPts val="0"/>
              </a:spcAft>
            </a:pPr>
            <a:r>
              <a:rPr lang="fr-F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Objectifs spécifiques</a:t>
            </a:r>
          </a:p>
        </p:txBody>
      </p:sp>
    </p:spTree>
    <p:extLst>
      <p:ext uri="{BB962C8B-B14F-4D97-AF65-F5344CB8AC3E}">
        <p14:creationId xmlns:p14="http://schemas.microsoft.com/office/powerpoint/2010/main" val="23525496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Problématique</a:t>
            </a:r>
          </a:p>
        </p:txBody>
      </p:sp>
      <p:sp>
        <p:nvSpPr>
          <p:cNvPr id="4" name="ZoneTexte 3">
            <a:extLst>
              <a:ext uri="{FF2B5EF4-FFF2-40B4-BE49-F238E27FC236}">
                <a16:creationId xmlns:a16="http://schemas.microsoft.com/office/drawing/2014/main" id="{72ACD630-65B8-4625-BCEB-CA18B595E6B3}"/>
              </a:ext>
            </a:extLst>
          </p:cNvPr>
          <p:cNvSpPr txBox="1"/>
          <p:nvPr/>
        </p:nvSpPr>
        <p:spPr>
          <a:xfrm>
            <a:off x="934278" y="1353352"/>
            <a:ext cx="10323443" cy="4517968"/>
          </a:xfrm>
          <a:prstGeom prst="rect">
            <a:avLst/>
          </a:prstGeom>
          <a:noFill/>
        </p:spPr>
        <p:txBody>
          <a:bodyPr wrap="square" rtlCol="0">
            <a:spAutoFit/>
          </a:bodyPr>
          <a:lstStyle/>
          <a:p>
            <a:pPr marL="0" marR="0" algn="just">
              <a:lnSpc>
                <a:spcPct val="115000"/>
              </a:lnSpc>
              <a:spcBef>
                <a:spcPts val="0"/>
              </a:spcBef>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Même si les réseaux informatiques jouent un rôle crucial dans le monde moderne des entreprises, leur fonctionnement intrinsèque demeure méconnu pour les utilisateurs.  Chaque action effectuée génère des paquets de données essentielles.  Sans un outil spécialisé, il est impossible de voir ces paquets, de comprendre les protocoles utilisés, d’identifier les anomalies, les cas suspects et analyser les performances. </a:t>
            </a:r>
          </a:p>
          <a:p>
            <a:pPr marL="0" marR="0" algn="just">
              <a:lnSpc>
                <a:spcPct val="115000"/>
              </a:lnSpc>
              <a:spcBef>
                <a:spcPts val="0"/>
              </a:spcBef>
              <a:spcAft>
                <a:spcPts val="800"/>
              </a:spcAft>
            </a:pP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La problématique de ce projet est formulée ainsi :</a:t>
            </a:r>
          </a:p>
          <a:p>
            <a:pPr marL="0" marR="0" algn="just">
              <a:lnSpc>
                <a:spcPct val="115000"/>
              </a:lnSpc>
              <a:spcBef>
                <a:spcPts val="0"/>
              </a:spcBef>
              <a:spcAft>
                <a:spcPts val="800"/>
              </a:spcAft>
            </a:pPr>
            <a:r>
              <a:rPr lang="fr-FR" sz="2400" b="1" i="1" kern="100" dirty="0">
                <a:effectLst/>
                <a:latin typeface="Times New Roman" panose="02020603050405020304" pitchFamily="18" charset="0"/>
                <a:ea typeface="Times New Roman" panose="02020603050405020304" pitchFamily="18" charset="0"/>
                <a:cs typeface="Times New Roman" panose="02020603050405020304" pitchFamily="18" charset="0"/>
              </a:rPr>
              <a:t>Comment analyser efficacement le trafic dans un réseau simulé avec Cisco Packet Tracer afin de comprendre les protocoles et de détecter les cas de suspicion ?</a:t>
            </a:r>
            <a:endPar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475141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Méthodologie</a:t>
            </a:r>
          </a:p>
        </p:txBody>
      </p:sp>
      <p:sp>
        <p:nvSpPr>
          <p:cNvPr id="4" name="ZoneTexte 3">
            <a:extLst>
              <a:ext uri="{FF2B5EF4-FFF2-40B4-BE49-F238E27FC236}">
                <a16:creationId xmlns:a16="http://schemas.microsoft.com/office/drawing/2014/main" id="{72ACD630-65B8-4625-BCEB-CA18B595E6B3}"/>
              </a:ext>
            </a:extLst>
          </p:cNvPr>
          <p:cNvSpPr txBox="1"/>
          <p:nvPr/>
        </p:nvSpPr>
        <p:spPr>
          <a:xfrm>
            <a:off x="934278" y="1353352"/>
            <a:ext cx="10323443" cy="4136773"/>
          </a:xfrm>
          <a:prstGeom prst="rect">
            <a:avLst/>
          </a:prstGeom>
          <a:noFill/>
        </p:spPr>
        <p:txBody>
          <a:bodyPr wrap="square" rtlCol="0">
            <a:spAutoFit/>
          </a:bodyPr>
          <a:lstStyle/>
          <a:p>
            <a:pPr marL="342900" marR="0" lvl="0" indent="-342900">
              <a:lnSpc>
                <a:spcPct val="115000"/>
              </a:lnSpc>
              <a:spcBef>
                <a:spcPts val="0"/>
              </a:spcBef>
              <a:spcAft>
                <a:spcPts val="800"/>
              </a:spcAft>
              <a:buFont typeface="+mj-lt"/>
              <a:buAutoNum type="arabicPeriod"/>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Analyse des besoins ;</a:t>
            </a:r>
          </a:p>
          <a:p>
            <a:pPr marL="342900" indent="-342900">
              <a:lnSpc>
                <a:spcPct val="115000"/>
              </a:lnSpc>
              <a:spcAft>
                <a:spcPts val="800"/>
              </a:spcAft>
              <a:buFont typeface="+mj-lt"/>
              <a:buAutoNum type="arabicPeriod"/>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Conception de la topologie ;</a:t>
            </a:r>
          </a:p>
          <a:p>
            <a:pPr marL="342900" indent="-342900">
              <a:lnSpc>
                <a:spcPct val="115000"/>
              </a:lnSpc>
              <a:spcAft>
                <a:spcPts val="800"/>
              </a:spcAft>
              <a:buFont typeface="+mj-lt"/>
              <a:buAutoNum type="arabicPeriod"/>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Configuration des équipements ;</a:t>
            </a:r>
          </a:p>
          <a:p>
            <a:pPr marL="342900" indent="-342900">
              <a:lnSpc>
                <a:spcPct val="115000"/>
              </a:lnSpc>
              <a:spcAft>
                <a:spcPts val="800"/>
              </a:spcAft>
              <a:buFont typeface="+mj-lt"/>
              <a:buAutoNum type="arabicPeriod"/>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Génération de trafic ;</a:t>
            </a:r>
          </a:p>
          <a:p>
            <a:pPr marL="342900" indent="-342900">
              <a:lnSpc>
                <a:spcPct val="115000"/>
              </a:lnSpc>
              <a:spcAft>
                <a:spcPts val="800"/>
              </a:spcAft>
              <a:buFont typeface="+mj-lt"/>
              <a:buAutoNum type="arabicPeriod"/>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Capture des paquets ;</a:t>
            </a:r>
          </a:p>
          <a:p>
            <a:pPr marL="342900" indent="-342900">
              <a:lnSpc>
                <a:spcPct val="115000"/>
              </a:lnSpc>
              <a:spcAft>
                <a:spcPts val="800"/>
              </a:spcAft>
              <a:buFont typeface="+mj-lt"/>
              <a:buAutoNum type="arabicPeriod"/>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Interprétation des résultats ;</a:t>
            </a:r>
          </a:p>
          <a:p>
            <a:pPr marL="342900" indent="-342900">
              <a:lnSpc>
                <a:spcPct val="115000"/>
              </a:lnSpc>
              <a:spcAft>
                <a:spcPts val="800"/>
              </a:spcAft>
              <a:buFont typeface="+mj-lt"/>
              <a:buAutoNum type="arabicPeriod"/>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Détection d’anomalie.</a:t>
            </a:r>
          </a:p>
        </p:txBody>
      </p:sp>
    </p:spTree>
    <p:extLst>
      <p:ext uri="{BB962C8B-B14F-4D97-AF65-F5344CB8AC3E}">
        <p14:creationId xmlns:p14="http://schemas.microsoft.com/office/powerpoint/2010/main" val="366917054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Outils et Technologies</a:t>
            </a:r>
          </a:p>
        </p:txBody>
      </p:sp>
      <p:sp>
        <p:nvSpPr>
          <p:cNvPr id="4" name="ZoneTexte 3">
            <a:extLst>
              <a:ext uri="{FF2B5EF4-FFF2-40B4-BE49-F238E27FC236}">
                <a16:creationId xmlns:a16="http://schemas.microsoft.com/office/drawing/2014/main" id="{72ACD630-65B8-4625-BCEB-CA18B595E6B3}"/>
              </a:ext>
            </a:extLst>
          </p:cNvPr>
          <p:cNvSpPr txBox="1"/>
          <p:nvPr/>
        </p:nvSpPr>
        <p:spPr>
          <a:xfrm>
            <a:off x="934279" y="1353352"/>
            <a:ext cx="10323443" cy="4623638"/>
          </a:xfrm>
          <a:prstGeom prst="rect">
            <a:avLst/>
          </a:prstGeom>
          <a:noFill/>
        </p:spPr>
        <p:txBody>
          <a:bodyPr wrap="square" rtlCol="0">
            <a:spAutoFit/>
          </a:bodyPr>
          <a:lstStyle/>
          <a:p>
            <a:pPr marL="0" marR="0" algn="just">
              <a:lnSpc>
                <a:spcPct val="115000"/>
              </a:lnSpc>
              <a:spcBef>
                <a:spcPts val="0"/>
              </a:spcBef>
              <a:spcAft>
                <a:spcPts val="800"/>
              </a:spcAft>
            </a:pPr>
            <a:r>
              <a:rPr lang="fr-FR"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Cisco Packet Tracer :</a:t>
            </a:r>
            <a:r>
              <a:rPr lang="fr-FR" sz="1800" kern="100" dirty="0">
                <a:effectLst/>
                <a:latin typeface="Times New Roman" panose="02020603050405020304" pitchFamily="18" charset="0"/>
                <a:ea typeface="Times New Roman" panose="02020603050405020304" pitchFamily="18" charset="0"/>
                <a:cs typeface="Times New Roman" panose="02020603050405020304" pitchFamily="18" charset="0"/>
              </a:rPr>
              <a:t> Ce simulateur de Cisco a été utilisé pour créer la topologie, connecter les équipements et générer du trafic :  il a permis de configurer le routeur, le switch, les PC ; d’activer les services DHCP, DNS, HTTP, HTTPS, et lancer des pings et des requêtes web.</a:t>
            </a:r>
            <a:endParaRPr lang="fr-FR" sz="1800" kern="100" dirty="0">
              <a:effectLst/>
              <a:latin typeface="Aptos"/>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800"/>
              </a:spcAft>
            </a:pPr>
            <a:r>
              <a:rPr lang="fr-FR"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Wireshark</a:t>
            </a:r>
            <a:r>
              <a:rPr lang="fr-FR" sz="1800" kern="100" dirty="0">
                <a:effectLst/>
                <a:latin typeface="Times New Roman" panose="02020603050405020304" pitchFamily="18" charset="0"/>
                <a:ea typeface="Times New Roman" panose="02020603050405020304" pitchFamily="18" charset="0"/>
                <a:cs typeface="Times New Roman" panose="02020603050405020304" pitchFamily="18" charset="0"/>
              </a:rPr>
              <a:t> : Cet outil représente l’analyseur principal et permet de capturer, filtrer et interpréter les paquets du réseau (ARP, ICMP, TCP, DHCP, HTTP et autres).  Il montre ce qui circule en vrai dans le réseau afin de comprendre leur fonctionnement.</a:t>
            </a:r>
            <a:endParaRPr lang="fr-FR" sz="1800" kern="100" dirty="0">
              <a:effectLst/>
              <a:latin typeface="Aptos"/>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800"/>
              </a:spcAft>
            </a:pPr>
            <a:r>
              <a:rPr lang="fr-FR"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Protocoles</a:t>
            </a:r>
            <a:r>
              <a:rPr lang="fr-FR" sz="1800" kern="100" dirty="0">
                <a:effectLst/>
                <a:latin typeface="Times New Roman" panose="02020603050405020304" pitchFamily="18" charset="0"/>
                <a:ea typeface="Times New Roman" panose="02020603050405020304" pitchFamily="18" charset="0"/>
                <a:cs typeface="Times New Roman" panose="02020603050405020304" pitchFamily="18" charset="0"/>
              </a:rPr>
              <a:t> :  certains protocoles sont utilisés pour comprendre la communication entre les équipements, tels que : ARP pour la résolution d’adresse MAC, ICMP pou le ping, DHCP pour l’attribution d’IP, le TCP/UDP pour le transport, le HTTP/HTTPS pour la navigation web.</a:t>
            </a:r>
            <a:endParaRPr lang="fr-FR" sz="1800" kern="100" dirty="0">
              <a:effectLst/>
              <a:latin typeface="Aptos"/>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800"/>
              </a:spcAft>
            </a:pPr>
            <a:r>
              <a:rPr lang="fr-FR"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Routeur et Switch</a:t>
            </a:r>
            <a:r>
              <a:rPr lang="fr-FR" sz="1800" kern="100" dirty="0">
                <a:effectLst/>
                <a:latin typeface="Times New Roman" panose="02020603050405020304" pitchFamily="18" charset="0"/>
                <a:ea typeface="Times New Roman" panose="02020603050405020304" pitchFamily="18" charset="0"/>
                <a:cs typeface="Times New Roman" panose="02020603050405020304" pitchFamily="18" charset="0"/>
              </a:rPr>
              <a:t> : Pour la gestion d’adresses IP et de la communication entre les PC, la distribution du trafic.</a:t>
            </a:r>
            <a:endParaRPr lang="fr-FR" sz="1800" kern="100" dirty="0">
              <a:effectLst/>
              <a:latin typeface="Aptos"/>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800"/>
              </a:spcAft>
            </a:pPr>
            <a:r>
              <a:rPr lang="fr-FR"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Commandes </a:t>
            </a:r>
            <a:r>
              <a:rPr lang="fr-FR" sz="1800" kern="100" dirty="0">
                <a:effectLst/>
                <a:latin typeface="Times New Roman" panose="02020603050405020304" pitchFamily="18" charset="0"/>
                <a:ea typeface="Times New Roman" panose="02020603050405020304" pitchFamily="18" charset="0"/>
                <a:cs typeface="Times New Roman" panose="02020603050405020304" pitchFamily="18" charset="0"/>
              </a:rPr>
              <a:t>: Ping, ipconfig /</a:t>
            </a:r>
            <a:r>
              <a:rPr lang="fr-FR" sz="1800" kern="100" dirty="0" err="1">
                <a:effectLst/>
                <a:latin typeface="Times New Roman" panose="02020603050405020304" pitchFamily="18" charset="0"/>
                <a:ea typeface="Times New Roman" panose="02020603050405020304" pitchFamily="18" charset="0"/>
                <a:cs typeface="Times New Roman" panose="02020603050405020304" pitchFamily="18" charset="0"/>
              </a:rPr>
              <a:t>renew</a:t>
            </a:r>
            <a:r>
              <a:rPr lang="fr-FR" sz="1800" kern="100" dirty="0">
                <a:effectLst/>
                <a:latin typeface="Times New Roman" panose="02020603050405020304" pitchFamily="18" charset="0"/>
                <a:ea typeface="Times New Roman" panose="02020603050405020304" pitchFamily="18" charset="0"/>
                <a:cs typeface="Times New Roman" panose="02020603050405020304" pitchFamily="18" charset="0"/>
              </a:rPr>
              <a:t>, ipconfig/release et autres sont utilisés pour la production des paquets à capturer.</a:t>
            </a:r>
            <a:endParaRPr lang="fr-FR" sz="1800" kern="100" dirty="0">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88594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Description du projet</a:t>
            </a:r>
          </a:p>
        </p:txBody>
      </p:sp>
      <p:sp>
        <p:nvSpPr>
          <p:cNvPr id="4" name="ZoneTexte 3">
            <a:extLst>
              <a:ext uri="{FF2B5EF4-FFF2-40B4-BE49-F238E27FC236}">
                <a16:creationId xmlns:a16="http://schemas.microsoft.com/office/drawing/2014/main" id="{72ACD630-65B8-4625-BCEB-CA18B595E6B3}"/>
              </a:ext>
            </a:extLst>
          </p:cNvPr>
          <p:cNvSpPr txBox="1"/>
          <p:nvPr/>
        </p:nvSpPr>
        <p:spPr>
          <a:xfrm>
            <a:off x="934279" y="1353352"/>
            <a:ext cx="10323443" cy="2042995"/>
          </a:xfrm>
          <a:prstGeom prst="rect">
            <a:avLst/>
          </a:prstGeom>
          <a:noFill/>
        </p:spPr>
        <p:txBody>
          <a:bodyPr wrap="square" rtlCol="0">
            <a:spAutoFit/>
          </a:bodyPr>
          <a:lstStyle/>
          <a:p>
            <a:pPr marL="0" marR="0" algn="just">
              <a:lnSpc>
                <a:spcPct val="115000"/>
              </a:lnSpc>
              <a:spcBef>
                <a:spcPts val="0"/>
              </a:spcBef>
              <a:spcAft>
                <a:spcPts val="800"/>
              </a:spcAft>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 Ce projet sur l’analyse du trafic dans un réseau simulé par Wireshark consiste à déployer un réseau simple et fonctionnel où le trafic est analysé afin d’identifier les protocoles utilisés et les possibles cas d’anomalies ou de trafics suspects.</a:t>
            </a:r>
            <a:endParaRPr lang="fr-FR" sz="2800" kern="100" dirty="0">
              <a:effectLst/>
              <a:latin typeface="Aptos"/>
              <a:ea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B86F1E02-C54A-499F-B797-F48C229C375E}"/>
              </a:ext>
            </a:extLst>
          </p:cNvPr>
          <p:cNvSpPr txBox="1"/>
          <p:nvPr/>
        </p:nvSpPr>
        <p:spPr>
          <a:xfrm>
            <a:off x="934278" y="3429000"/>
            <a:ext cx="10323443" cy="2538515"/>
          </a:xfrm>
          <a:prstGeom prst="rect">
            <a:avLst/>
          </a:prstGeom>
          <a:noFill/>
        </p:spPr>
        <p:txBody>
          <a:bodyPr wrap="square" rtlCol="0">
            <a:spAutoFit/>
          </a:bodyPr>
          <a:lstStyle/>
          <a:p>
            <a:pPr marL="0" marR="0" algn="just">
              <a:lnSpc>
                <a:spcPct val="115000"/>
              </a:lnSpc>
              <a:spcBef>
                <a:spcPts val="0"/>
              </a:spcBef>
              <a:spcAft>
                <a:spcPts val="800"/>
              </a:spcAft>
            </a:pPr>
            <a:r>
              <a:rPr lang="fr-FR" sz="2800" kern="100" dirty="0">
                <a:effectLst/>
                <a:latin typeface="Times New Roman" panose="02020603050405020304" pitchFamily="18" charset="0"/>
                <a:ea typeface="Times New Roman" panose="02020603050405020304" pitchFamily="18" charset="0"/>
                <a:cs typeface="Times New Roman" panose="02020603050405020304" pitchFamily="18" charset="0"/>
              </a:rPr>
              <a:t> La simulation est faite dans un environnement virtuel comme Cisco Packet Tracer ce qui a permis de reproduire des scenarios réels sans risque pour un réseau de production.  L’analyseur ou l’outil principal utilisé pour examiner, observer, capturer les paquets est Wireshark pour comprendre en profondeur la communication au sein du réseau.</a:t>
            </a:r>
            <a:endParaRPr lang="fr-FR" sz="2800" kern="100" dirty="0">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02264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Résultats et analyses</a:t>
            </a:r>
          </a:p>
        </p:txBody>
      </p:sp>
      <p:pic>
        <p:nvPicPr>
          <p:cNvPr id="6" name="Image 5">
            <a:extLst>
              <a:ext uri="{FF2B5EF4-FFF2-40B4-BE49-F238E27FC236}">
                <a16:creationId xmlns:a16="http://schemas.microsoft.com/office/drawing/2014/main" id="{9CC6F793-712D-464D-9058-AEC183688AB7}"/>
              </a:ext>
            </a:extLst>
          </p:cNvPr>
          <p:cNvPicPr/>
          <p:nvPr/>
        </p:nvPicPr>
        <p:blipFill rotWithShape="1">
          <a:blip r:embed="rId2">
            <a:extLst>
              <a:ext uri="{28A0092B-C50C-407E-A947-70E740481C1C}">
                <a14:useLocalDpi xmlns:a14="http://schemas.microsoft.com/office/drawing/2010/main" val="0"/>
              </a:ext>
            </a:extLst>
          </a:blip>
          <a:srcRect l="9867" r="8083" b="11429"/>
          <a:stretch/>
        </p:blipFill>
        <p:spPr bwMode="auto">
          <a:xfrm>
            <a:off x="437322" y="1074241"/>
            <a:ext cx="4876800" cy="2556220"/>
          </a:xfrm>
          <a:prstGeom prst="rect">
            <a:avLst/>
          </a:prstGeom>
          <a:noFill/>
          <a:ln>
            <a:noFill/>
          </a:ln>
        </p:spPr>
      </p:pic>
      <p:pic>
        <p:nvPicPr>
          <p:cNvPr id="7" name="Image 6">
            <a:extLst>
              <a:ext uri="{FF2B5EF4-FFF2-40B4-BE49-F238E27FC236}">
                <a16:creationId xmlns:a16="http://schemas.microsoft.com/office/drawing/2014/main" id="{5B093048-11EB-4FE7-9FA6-341091AEAA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413926" y="1079330"/>
            <a:ext cx="5657850" cy="2752725"/>
          </a:xfrm>
          <a:prstGeom prst="rect">
            <a:avLst/>
          </a:prstGeom>
          <a:noFill/>
          <a:ln>
            <a:noFill/>
          </a:ln>
        </p:spPr>
      </p:pic>
      <p:pic>
        <p:nvPicPr>
          <p:cNvPr id="8" name="Image 7">
            <a:extLst>
              <a:ext uri="{FF2B5EF4-FFF2-40B4-BE49-F238E27FC236}">
                <a16:creationId xmlns:a16="http://schemas.microsoft.com/office/drawing/2014/main" id="{A720F463-10A6-405F-A3E2-A8C8335F3AB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048206" y="3630461"/>
            <a:ext cx="5724525" cy="2971800"/>
          </a:xfrm>
          <a:prstGeom prst="rect">
            <a:avLst/>
          </a:prstGeom>
          <a:noFill/>
          <a:ln>
            <a:noFill/>
          </a:ln>
        </p:spPr>
      </p:pic>
    </p:spTree>
    <p:extLst>
      <p:ext uri="{BB962C8B-B14F-4D97-AF65-F5344CB8AC3E}">
        <p14:creationId xmlns:p14="http://schemas.microsoft.com/office/powerpoint/2010/main" val="322470939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Perspectives</a:t>
            </a:r>
          </a:p>
        </p:txBody>
      </p:sp>
      <p:sp>
        <p:nvSpPr>
          <p:cNvPr id="4" name="ZoneTexte 3">
            <a:extLst>
              <a:ext uri="{FF2B5EF4-FFF2-40B4-BE49-F238E27FC236}">
                <a16:creationId xmlns:a16="http://schemas.microsoft.com/office/drawing/2014/main" id="{72ACD630-65B8-4625-BCEB-CA18B595E6B3}"/>
              </a:ext>
            </a:extLst>
          </p:cNvPr>
          <p:cNvSpPr txBox="1"/>
          <p:nvPr/>
        </p:nvSpPr>
        <p:spPr>
          <a:xfrm>
            <a:off x="934279" y="1353352"/>
            <a:ext cx="10323443" cy="4613379"/>
          </a:xfrm>
          <a:prstGeom prst="rect">
            <a:avLst/>
          </a:prstGeom>
          <a:noFill/>
        </p:spPr>
        <p:txBody>
          <a:bodyPr wrap="square" rtlCol="0">
            <a:spAutoFit/>
          </a:bodyPr>
          <a:lstStyle/>
          <a:p>
            <a:pPr marL="342900" marR="0" lvl="0" indent="-342900" algn="just">
              <a:lnSpc>
                <a:spcPct val="115000"/>
              </a:lnSpc>
              <a:spcBef>
                <a:spcPts val="0"/>
              </a:spcBef>
              <a:spcAft>
                <a:spcPts val="800"/>
              </a:spcAft>
              <a:buFont typeface="+mj-lt"/>
              <a:buAutoNum type="arabicPeriod"/>
              <a:tabLst>
                <a:tab pos="457200" algn="l"/>
              </a:tabLst>
            </a:pPr>
            <a:r>
              <a:rPr lang="fr-FR" sz="2400" b="1" kern="0" dirty="0">
                <a:effectLst/>
                <a:latin typeface="Times New Roman" panose="02020603050405020304" pitchFamily="18" charset="0"/>
                <a:ea typeface="Times New Roman" panose="02020603050405020304" pitchFamily="18" charset="0"/>
                <a:cs typeface="Times New Roman" panose="02020603050405020304" pitchFamily="18" charset="0"/>
              </a:rPr>
              <a:t>Ajout de mécanismes de sécurité </a:t>
            </a: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 Mise en place d’ACL sur le routeur pour filtrer certains ports, simulation d’un pare-feu et observation de son impact sur le trafic dans Wireshark ;</a:t>
            </a:r>
            <a:endPar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800"/>
              </a:spcAft>
              <a:buFont typeface="+mj-lt"/>
              <a:buAutoNum type="arabicPeriod"/>
              <a:tabLst>
                <a:tab pos="457200" algn="l"/>
              </a:tabLst>
            </a:pPr>
            <a:r>
              <a:rPr lang="fr-FR" sz="2400" b="1" kern="0" dirty="0">
                <a:effectLst/>
                <a:latin typeface="Times New Roman" panose="02020603050405020304" pitchFamily="18" charset="0"/>
                <a:ea typeface="Times New Roman" panose="02020603050405020304" pitchFamily="18" charset="0"/>
                <a:cs typeface="Times New Roman" panose="02020603050405020304" pitchFamily="18" charset="0"/>
              </a:rPr>
              <a:t>Topologie plus complexe</a:t>
            </a: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 : Ajout de plusieurs VLAN et de plusieurs sous-réseaux, analyse du trafic inter-VLAN et du routage ;</a:t>
            </a:r>
            <a:endPar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800"/>
              </a:spcAft>
              <a:buFont typeface="+mj-lt"/>
              <a:buAutoNum type="arabicPeriod"/>
              <a:tabLst>
                <a:tab pos="457200" algn="l"/>
              </a:tabLst>
            </a:pPr>
            <a:r>
              <a:rPr lang="fr-FR" sz="2400" b="1" kern="0" dirty="0">
                <a:effectLst/>
                <a:latin typeface="Times New Roman" panose="02020603050405020304" pitchFamily="18" charset="0"/>
                <a:ea typeface="Times New Roman" panose="02020603050405020304" pitchFamily="18" charset="0"/>
                <a:cs typeface="Times New Roman" panose="02020603050405020304" pitchFamily="18" charset="0"/>
              </a:rPr>
              <a:t>Automatisation de la capture et de l’analyse </a:t>
            </a: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 utilisation de scripts python ou de filtres avancés dans Wireshark, génération de rapports automatiques sur les types de trafic et les anomalies détectées ;</a:t>
            </a:r>
            <a:endPar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ct val="115000"/>
              </a:lnSpc>
              <a:spcBef>
                <a:spcPts val="0"/>
              </a:spcBef>
              <a:spcAft>
                <a:spcPts val="800"/>
              </a:spcAft>
              <a:buFont typeface="+mj-lt"/>
              <a:buAutoNum type="arabicPeriod"/>
              <a:tabLst>
                <a:tab pos="457200" algn="l"/>
              </a:tabLst>
            </a:pPr>
            <a:r>
              <a:rPr lang="fr-FR" sz="2400" b="1" kern="0" dirty="0">
                <a:effectLst/>
                <a:latin typeface="Times New Roman" panose="02020603050405020304" pitchFamily="18" charset="0"/>
                <a:ea typeface="Times New Roman" panose="02020603050405020304" pitchFamily="18" charset="0"/>
                <a:cs typeface="Times New Roman" panose="02020603050405020304" pitchFamily="18" charset="0"/>
              </a:rPr>
              <a:t>Ajout de service supervision : </a:t>
            </a:r>
            <a:r>
              <a:rPr lang="fr-FR" sz="2400" kern="0" dirty="0">
                <a:effectLst/>
                <a:latin typeface="Times New Roman" panose="02020603050405020304" pitchFamily="18" charset="0"/>
                <a:ea typeface="Times New Roman" panose="02020603050405020304" pitchFamily="18" charset="0"/>
                <a:cs typeface="Times New Roman" panose="02020603050405020304" pitchFamily="18" charset="0"/>
              </a:rPr>
              <a:t>Intégration avec des outils de monitoring (SNMP, Ansible, et autres) pour corréler les événements réseau et les captures.</a:t>
            </a:r>
            <a:endPar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35801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304800"/>
            <a:ext cx="8799443" cy="769441"/>
          </a:xfrm>
          <a:prstGeom prst="rect">
            <a:avLst/>
          </a:prstGeom>
          <a:noFill/>
        </p:spPr>
        <p:txBody>
          <a:bodyPr wrap="square" rtlCol="0">
            <a:spAutoFit/>
          </a:bodyPr>
          <a:lstStyle/>
          <a:p>
            <a:pPr algn="ctr"/>
            <a:r>
              <a:rPr lang="fr-F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Conclusion</a:t>
            </a:r>
          </a:p>
        </p:txBody>
      </p:sp>
      <p:sp>
        <p:nvSpPr>
          <p:cNvPr id="4" name="ZoneTexte 3">
            <a:extLst>
              <a:ext uri="{FF2B5EF4-FFF2-40B4-BE49-F238E27FC236}">
                <a16:creationId xmlns:a16="http://schemas.microsoft.com/office/drawing/2014/main" id="{72ACD630-65B8-4625-BCEB-CA18B595E6B3}"/>
              </a:ext>
            </a:extLst>
          </p:cNvPr>
          <p:cNvSpPr txBox="1"/>
          <p:nvPr/>
        </p:nvSpPr>
        <p:spPr>
          <a:xfrm>
            <a:off x="934279" y="1353352"/>
            <a:ext cx="10323443" cy="3888052"/>
          </a:xfrm>
          <a:prstGeom prst="rect">
            <a:avLst/>
          </a:prstGeom>
          <a:noFill/>
        </p:spPr>
        <p:txBody>
          <a:bodyPr wrap="square" rtlCol="0">
            <a:spAutoFit/>
          </a:bodyPr>
          <a:lstStyle/>
          <a:p>
            <a:pPr marL="0" marR="0" algn="just">
              <a:lnSpc>
                <a:spcPct val="115000"/>
              </a:lnSpc>
              <a:spcBef>
                <a:spcPts val="0"/>
              </a:spcBef>
              <a:spcAft>
                <a:spcPts val="800"/>
              </a:spcAft>
            </a:pPr>
            <a:r>
              <a:rPr lang="fr-FR" sz="2400"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Ce projet d’</a:t>
            </a:r>
            <a:r>
              <a:rPr lang="fr-FR"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analyse du trafic réseau avec Wireshark dans un réseau simulé</a:t>
            </a: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a permis de mettre en pratique les notions fondamentales de protocoles réseau et de diagnostic. À partir d’une topologie simple composé de : </a:t>
            </a:r>
            <a:r>
              <a:rPr lang="fr-FR" sz="2400" kern="100" dirty="0" err="1">
                <a:effectLst/>
                <a:latin typeface="Times New Roman" panose="02020603050405020304" pitchFamily="18" charset="0"/>
                <a:ea typeface="Times New Roman" panose="02020603050405020304" pitchFamily="18" charset="0"/>
                <a:cs typeface="Times New Roman" panose="02020603050405020304" pitchFamily="18" charset="0"/>
              </a:rPr>
              <a:t>PCs</a:t>
            </a:r>
            <a:r>
              <a:rPr lang="fr-FR" sz="2400" kern="100" dirty="0">
                <a:effectLst/>
                <a:latin typeface="Times New Roman" panose="02020603050405020304" pitchFamily="18" charset="0"/>
                <a:ea typeface="Times New Roman" panose="02020603050405020304" pitchFamily="18" charset="0"/>
                <a:cs typeface="Times New Roman" panose="02020603050405020304" pitchFamily="18" charset="0"/>
              </a:rPr>
              <a:t>, Switch, Routeur, Serveur, nous avons généré différents types de trafic tels que : HTTP, ICMP, DNS, ping, capturé les paquets et analysé en détail le fonctionnement de TCP, DNS et HTTP. En résumé, ce projet répond aux objectifs fixés : comprendre le fonctionnement des protocoles, analyser les paquets capturés et identifier des anomalies, tout en préparant le terrain pour des projets plus avancés en sécurité et supervision réseau.</a:t>
            </a:r>
            <a:endParaRPr lang="fr-FR" sz="2400" kern="100" dirty="0">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73821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FC5B6A6-5834-43F6-894F-6CFCC9E4A475}"/>
              </a:ext>
            </a:extLst>
          </p:cNvPr>
          <p:cNvSpPr txBox="1"/>
          <p:nvPr/>
        </p:nvSpPr>
        <p:spPr>
          <a:xfrm>
            <a:off x="1696279" y="2279374"/>
            <a:ext cx="8799443" cy="1446550"/>
          </a:xfrm>
          <a:prstGeom prst="rect">
            <a:avLst/>
          </a:prstGeom>
          <a:noFill/>
        </p:spPr>
        <p:txBody>
          <a:bodyPr wrap="square" rtlCol="0">
            <a:spAutoFit/>
          </a:bodyPr>
          <a:lstStyle/>
          <a:p>
            <a:pPr algn="ctr"/>
            <a:r>
              <a:rPr lang="fr-FR" sz="8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Merci</a:t>
            </a:r>
          </a:p>
        </p:txBody>
      </p:sp>
      <p:sp>
        <p:nvSpPr>
          <p:cNvPr id="4" name="ZoneTexte 3">
            <a:extLst>
              <a:ext uri="{FF2B5EF4-FFF2-40B4-BE49-F238E27FC236}">
                <a16:creationId xmlns:a16="http://schemas.microsoft.com/office/drawing/2014/main" id="{72ACD630-65B8-4625-BCEB-CA18B595E6B3}"/>
              </a:ext>
            </a:extLst>
          </p:cNvPr>
          <p:cNvSpPr txBox="1"/>
          <p:nvPr/>
        </p:nvSpPr>
        <p:spPr>
          <a:xfrm>
            <a:off x="3091070" y="3725924"/>
            <a:ext cx="6009860" cy="689099"/>
          </a:xfrm>
          <a:prstGeom prst="rect">
            <a:avLst/>
          </a:prstGeom>
          <a:noFill/>
        </p:spPr>
        <p:txBody>
          <a:bodyPr wrap="square" rtlCol="0">
            <a:spAutoFit/>
          </a:bodyPr>
          <a:lstStyle/>
          <a:p>
            <a:pPr marL="0" marR="0" algn="ctr">
              <a:lnSpc>
                <a:spcPct val="115000"/>
              </a:lnSpc>
              <a:spcBef>
                <a:spcPts val="0"/>
              </a:spcBef>
              <a:spcAft>
                <a:spcPts val="800"/>
              </a:spcAft>
            </a:pPr>
            <a:r>
              <a:rPr lang="fr-FR" sz="3600" i="1"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Pour votre attention!</a:t>
            </a:r>
            <a:endParaRPr lang="fr-FR" sz="3600" i="1" kern="100" dirty="0">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659045"/>
      </p:ext>
    </p:extLst>
  </p:cSld>
  <p:clrMapOvr>
    <a:masterClrMapping/>
  </p:clrMapOvr>
  <p:transition spd="slow">
    <p:wipe/>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909</Words>
  <Application>Microsoft Office PowerPoint</Application>
  <PresentationFormat>Grand écran</PresentationFormat>
  <Paragraphs>52</Paragraphs>
  <Slides>11</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11</vt:i4>
      </vt:variant>
    </vt:vector>
  </HeadingPairs>
  <TitlesOfParts>
    <vt:vector size="19" baseType="lpstr">
      <vt:lpstr>Aptos</vt:lpstr>
      <vt:lpstr>Arial</vt:lpstr>
      <vt:lpstr>Calibri</vt:lpstr>
      <vt:lpstr>Calibri Light</vt:lpstr>
      <vt:lpstr>Google Sans</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DIEUDONNE</dc:creator>
  <cp:lastModifiedBy>DIEUDONNE</cp:lastModifiedBy>
  <cp:revision>5</cp:revision>
  <dcterms:created xsi:type="dcterms:W3CDTF">2026-05-23T01:55:47Z</dcterms:created>
  <dcterms:modified xsi:type="dcterms:W3CDTF">2026-05-23T02:20:46Z</dcterms:modified>
</cp:coreProperties>
</file>